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Raleway"/>
      <p:regular r:id="rId65"/>
      <p:bold r:id="rId66"/>
      <p:italic r:id="rId67"/>
      <p:boldItalic r:id="rId68"/>
    </p:embeddedFont>
    <p:embeddedFont>
      <p:font typeface="Lat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Lat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Lato-italic.fntdata"/><Relationship Id="rId70" Type="http://schemas.openxmlformats.org/officeDocument/2006/relationships/font" Target="fonts/Lat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aleway-bold.fntdata"/><Relationship Id="rId21" Type="http://schemas.openxmlformats.org/officeDocument/2006/relationships/slide" Target="slides/slide15.xml"/><Relationship Id="rId65" Type="http://schemas.openxmlformats.org/officeDocument/2006/relationships/font" Target="fonts/Raleway-regular.fntdata"/><Relationship Id="rId24" Type="http://schemas.openxmlformats.org/officeDocument/2006/relationships/slide" Target="slides/slide18.xml"/><Relationship Id="rId68" Type="http://schemas.openxmlformats.org/officeDocument/2006/relationships/font" Target="fonts/Raleway-boldItalic.fntdata"/><Relationship Id="rId23" Type="http://schemas.openxmlformats.org/officeDocument/2006/relationships/slide" Target="slides/slide17.xml"/><Relationship Id="rId67" Type="http://schemas.openxmlformats.org/officeDocument/2006/relationships/font" Target="fonts/Raleway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at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3e9db44b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3e9db44b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3e9db44b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03e9db44b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3e9db44b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03e9db44b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3e9db44b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3e9db44b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bc167c3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bc167c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634ed681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634ed681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3e9db44b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3e9db44b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017d001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4017d001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bc167c3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bc167c3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bc167c3a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bc167c3a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bc167c3a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bc167c3a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bc167c3a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bc167c3a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bc167c3a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bc167c3a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4b4ad0da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4b4ad0da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bc167c3a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bc167c3a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4c0e9854e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4c0e9854e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4c0e9854e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84c0e9854e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bc167c3a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bc167c3a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4c0e9854e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4c0e9854e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bc167c3a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dbc167c3a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34cb35d1b5fb211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34cb35d1b5fb211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4b4ad0da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4b4ad0da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bc167c3a4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bc167c3a4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bc167c3a4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bc167c3a4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4c0e9854e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84c0e9854e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bc167c3a4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bc167c3a4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4b4ad0da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84b4ad0da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bc167c3a4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bc167c3a4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4c0e9854e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4c0e9854e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bc167c3a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bc167c3a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84c0e9854e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84c0e9854e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4c0e9854e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4c0e9854e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bc167c3a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bc167c3a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4b4ad0d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4b4ad0d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bc167c3a4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bc167c3a4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bc167c3a4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bc167c3a4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bc167c3a4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dbc167c3a4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bc167c3a4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dbc167c3a4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bc167c3a4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bc167c3a4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bc167c3a4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bc167c3a4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bc167c3a4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bc167c3a4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bc167c3a4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dbc167c3a4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bc167c3a4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bc167c3a4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bc167c3a4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bc167c3a4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bc167c3a4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bc167c3a4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bc167c3a4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bc167c3a4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bc167c3a4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bc167c3a4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bc167c3a4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dbc167c3a4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bc167c3a4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dbc167c3a4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bc167c3a4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bc167c3a4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84c0e9854e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84c0e9854e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bc167c3a4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bc167c3a4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03e9db44b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03e9db44b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h34cb35d1b5fb211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h34cb35d1b5fb211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26423e1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c26423e1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634ed68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634ed68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4017d0019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4017d0019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 1">
  <p:cSld name="TITLE_AND_BODY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1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7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18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19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9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20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1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21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">
  <p:cSld name="TITLE_AND_BODY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2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 1">
  <p:cSld name="TITLE_AND_BODY_1_1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2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 1 1">
  <p:cSld name="TITLE_AND_BODY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 1 1 1">
  <p:cSld name="TITLE_AND_BODY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2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2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2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2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9" name="Google Shape;169;p26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2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8" name="Google Shape;178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9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3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0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8" name="Google Shape;188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3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3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32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32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3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3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3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9" name="Google Shape;209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4"/>
          <p:cNvSpPr/>
          <p:nvPr/>
        </p:nvSpPr>
        <p:spPr>
          <a:xfrm>
            <a:off x="435375" y="716475"/>
            <a:ext cx="183000" cy="3881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semgrep.dev/docs/mcp" TargetMode="External"/><Relationship Id="rId4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ithub.com/semgrep/semgrep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composio.dev/content/claude-code-plugin" TargetMode="External"/><Relationship Id="rId4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0" Type="http://schemas.openxmlformats.org/officeDocument/2006/relationships/hyperlink" Target="https://composio.dev/content/claude-code-plugin" TargetMode="External"/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cloudsecurityalliance.org/blog/2025/04/09/secure-vibe-coding-guide#" TargetMode="External"/><Relationship Id="rId4" Type="http://schemas.openxmlformats.org/officeDocument/2006/relationships/hyperlink" Target="https://owasp.org/Top10/2025/" TargetMode="External"/><Relationship Id="rId9" Type="http://schemas.openxmlformats.org/officeDocument/2006/relationships/hyperlink" Target="https://github.com/anthropics/claude-code-security-review" TargetMode="External"/><Relationship Id="rId5" Type="http://schemas.openxmlformats.org/officeDocument/2006/relationships/hyperlink" Target="https://platform.claude.com/docs/en/agent-sdk/modifying-system-prompts" TargetMode="External"/><Relationship Id="rId6" Type="http://schemas.openxmlformats.org/officeDocument/2006/relationships/hyperlink" Target="https://arxiv.org/abs/2512.03262" TargetMode="External"/><Relationship Id="rId7" Type="http://schemas.openxmlformats.org/officeDocument/2006/relationships/hyperlink" Target="https://cheatsheetseries.owasp.org/index.html" TargetMode="External"/><Relationship Id="rId8" Type="http://schemas.openxmlformats.org/officeDocument/2006/relationships/hyperlink" Target="https://semgrep.dev/docs/mcp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n" sz="4320"/>
              <a:t>It’s Giving Insecure Vibes: Secure Coding Literacy for Vibe Coders</a:t>
            </a:r>
            <a:endParaRPr sz="4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420"/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Betta Lyon Delsordo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Penetration Testing Engineer @ AWS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7,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Conference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code is easy!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spotting security mistakes isn’t….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you ready to fix those vibed vulnerabilities!  </a:t>
            </a:r>
            <a:endParaRPr/>
          </a:p>
        </p:txBody>
      </p:sp>
      <p:sp>
        <p:nvSpPr>
          <p:cNvPr id="232" name="Google Shape;232;p38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how to identify and fix security vulns in vibe coded applications</a:t>
            </a:r>
            <a:endParaRPr/>
          </a:p>
        </p:txBody>
      </p:sp>
      <p:sp>
        <p:nvSpPr>
          <p:cNvPr id="233" name="Google Shape;233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Exploring vibe 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Common vulns in vibed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Recognizing AI generated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Quiz time!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Resolving vulns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AI-assisted 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Further reading + workshop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1) Intro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Hi, I’m Betta! I hack websites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Started teaching myself to code at 13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Began building websites for small businesses in Montana (USA) in high school through college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Realized that web dev made me a good web hacker!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Now an ethical hacker: web, cloud, AI,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Currently a pentester @ AWS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Specialize in code review and AI hacking, also building tools to speed up pentesting</a:t>
            </a:r>
            <a:endParaRPr/>
          </a:p>
        </p:txBody>
      </p:sp>
      <p:pic>
        <p:nvPicPr>
          <p:cNvPr id="245" name="Google Shape;245;p40" title="headshot-2026-betta.jpg"/>
          <p:cNvPicPr preferRelativeResize="0"/>
          <p:nvPr/>
        </p:nvPicPr>
        <p:blipFill rotWithShape="1">
          <a:blip r:embed="rId3">
            <a:alphaModFix/>
          </a:blip>
          <a:srcRect b="0" l="25572" r="23690" t="0"/>
          <a:stretch/>
        </p:blipFill>
        <p:spPr>
          <a:xfrm>
            <a:off x="329175" y="1396625"/>
            <a:ext cx="1936399" cy="294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talk?</a:t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Past role: led a team of pentesters to build tools, started seeing ‘vibed vulnerabilities’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a pentester specializing in code review, I’m finding tons more vulns in vibed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Necessary disclaimer: not here representing my current employer AWS, and all thoughts expressed are my own </a:t>
            </a: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75" y="1838975"/>
            <a:ext cx="2381551" cy="14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411675" y="710350"/>
            <a:ext cx="4252500" cy="31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 Materials: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6"/>
              <a:t>https://github.com/Betta-Lyon-Delsordo/insecure-vibes/</a:t>
            </a:r>
            <a:endParaRPr/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775" y="1011100"/>
            <a:ext cx="3099325" cy="29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Exploring vibe coding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2400250" y="575950"/>
            <a:ext cx="6500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definitions:</a:t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Vibe coding = using AI to write applications with very little edits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MCP Servers = give your agent tools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Skills = plugins or extensions to add functionality to an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Pentesting = looking for vulnerabilities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type="title"/>
          </p:nvPr>
        </p:nvSpPr>
        <p:spPr>
          <a:xfrm>
            <a:off x="2400250" y="575950"/>
            <a:ext cx="6500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vibes:</a:t>
            </a:r>
            <a:endParaRPr/>
          </a:p>
        </p:txBody>
      </p:sp>
      <p:sp>
        <p:nvSpPr>
          <p:cNvPr id="275" name="Google Shape;275;p4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Save time writing route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Regex (sed/awk syntax)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Troubleshooting error 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Translating from one coding language to another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Translating comments into different human languages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Great for prototyping, rapid ideation, internal apps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 barrier to entry: juniors and career changers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2400250" y="575950"/>
            <a:ext cx="6500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vibes:</a:t>
            </a:r>
            <a:endParaRPr/>
          </a:p>
        </p:txBody>
      </p:sp>
      <p:sp>
        <p:nvSpPr>
          <p:cNvPr id="281" name="Google Shape;281;p4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Less technical users mean less understanding of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bad for scaling, troubleshooting, maintaining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 lack of security awareness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common to lack authorization and sanitization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Public facing apps draw hacker attention -&gt; easy breach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Agents, extensions &amp; skills = new attack vectors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758225" y="841675"/>
            <a:ext cx="1641900" cy="24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 viral example</a:t>
            </a:r>
            <a:endParaRPr sz="2500"/>
          </a:p>
        </p:txBody>
      </p:sp>
      <p:pic>
        <p:nvPicPr>
          <p:cNvPr id="287" name="Google Shape;28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075" y="716659"/>
            <a:ext cx="4053850" cy="386104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8" name="Google Shape;288;p47"/>
          <p:cNvSpPr txBox="1"/>
          <p:nvPr/>
        </p:nvSpPr>
        <p:spPr>
          <a:xfrm>
            <a:off x="2400250" y="4810750"/>
            <a:ext cx="41973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Image credit: https://x.com/Sahil_Gulihar_/status/1946787529367179551</a:t>
            </a:r>
            <a:endParaRPr sz="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758225" y="841675"/>
            <a:ext cx="1641900" cy="24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Another viral example</a:t>
            </a:r>
            <a:endParaRPr sz="2500"/>
          </a:p>
        </p:txBody>
      </p:sp>
      <p:sp>
        <p:nvSpPr>
          <p:cNvPr id="294" name="Google Shape;294;p48"/>
          <p:cNvSpPr txBox="1"/>
          <p:nvPr/>
        </p:nvSpPr>
        <p:spPr>
          <a:xfrm>
            <a:off x="2400250" y="4810750"/>
            <a:ext cx="41973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Image credit: https://www.wiz.io/blog/exposed-moltbook-database-reveals-millions-of-api-keys</a:t>
            </a:r>
            <a:endParaRPr sz="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5" name="Google Shape;29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250" y="644250"/>
            <a:ext cx="4462148" cy="3855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3) Common vulns in vibed code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Vibed vulns I see most often:</a:t>
            </a:r>
            <a:endParaRPr/>
          </a:p>
        </p:txBody>
      </p:sp>
      <p:sp>
        <p:nvSpPr>
          <p:cNvPr id="306" name="Google Shape;306;p50"/>
          <p:cNvSpPr txBox="1"/>
          <p:nvPr>
            <p:ph idx="1" type="body"/>
          </p:nvPr>
        </p:nvSpPr>
        <p:spPr>
          <a:xfrm>
            <a:off x="2410100" y="1595775"/>
            <a:ext cx="6321600" cy="31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Exposing sensitive information - hard coded API keys and creds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Insecure default passwords, unencrypted traffic, no auth checks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Detailed comments about exactly how to log in and exploit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Displaying way too much information to public users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312" name="Google Shape;31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753" y="1212075"/>
            <a:ext cx="4970825" cy="345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318" name="Google Shape;31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0" y="1308025"/>
            <a:ext cx="5481425" cy="320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n"/>
              <a:t>Other vibed vulns:</a:t>
            </a:r>
            <a:endParaRPr/>
          </a:p>
        </p:txBody>
      </p:sp>
      <p:sp>
        <p:nvSpPr>
          <p:cNvPr id="324" name="Google Shape;324;p5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user input sanitization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Pulling in malicious libraries masquerading as open source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Pasting proprietary code into public/online LLMs that train on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Downloading malicious coding tools that claim to do ‘magic’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Installing malicious extensions or agent skills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330" name="Google Shape;33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0" y="1211350"/>
            <a:ext cx="4859025" cy="3313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Typo-squatting on open source packages: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5"/>
          <p:cNvSpPr txBox="1"/>
          <p:nvPr/>
        </p:nvSpPr>
        <p:spPr>
          <a:xfrm>
            <a:off x="2400250" y="4810750"/>
            <a:ext cx="41973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Image credit: https://opensourcemalware.com/blog/windows-infostealer-stubmaker-npm-ruby</a:t>
            </a:r>
            <a:endParaRPr sz="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7" name="Google Shape;33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506" y="1662624"/>
            <a:ext cx="4837325" cy="27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Beware of evil extensions &amp; 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827" y="1265725"/>
            <a:ext cx="2722176" cy="29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6"/>
          <p:cNvSpPr txBox="1"/>
          <p:nvPr/>
        </p:nvSpPr>
        <p:spPr>
          <a:xfrm>
            <a:off x="2400250" y="4810750"/>
            <a:ext cx="41973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Image credit: https://snyk.io/blog/cursor-ide-malware-extension-compromise-in-usd500k-crypto-heist/</a:t>
            </a:r>
            <a:endParaRPr sz="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7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4) Recognizing AI generated code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8"/>
          <p:cNvSpPr txBox="1"/>
          <p:nvPr>
            <p:ph type="title"/>
          </p:nvPr>
        </p:nvSpPr>
        <p:spPr>
          <a:xfrm>
            <a:off x="2178300" y="575950"/>
            <a:ext cx="6543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giveaways for AI generated code</a:t>
            </a:r>
            <a:endParaRPr/>
          </a:p>
        </p:txBody>
      </p:sp>
      <p:sp>
        <p:nvSpPr>
          <p:cNvPr id="355" name="Google Shape;355;p5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Emoji comments!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linear comments (Step 1, Step 2…)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Perfect formatting that would be difficult for a human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perfect print statements with verbose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Redundant or unnecessary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Lack of user comprehension about what the code does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9"/>
          <p:cNvSpPr txBox="1"/>
          <p:nvPr>
            <p:ph type="title"/>
          </p:nvPr>
        </p:nvSpPr>
        <p:spPr>
          <a:xfrm>
            <a:off x="2240825" y="575950"/>
            <a:ext cx="6480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n"/>
              <a:t>Easy giveaways for AI generated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Crashes or fails without meaningful errors, no evidence of incremental development or debugging or unit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Nonsensical imports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 stubs that don’t do anything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attempt to integrate with existing environment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2240825" y="575950"/>
            <a:ext cx="6480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900" y="1211350"/>
            <a:ext cx="5046926" cy="3050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1"/>
          <p:cNvSpPr txBox="1"/>
          <p:nvPr>
            <p:ph type="title"/>
          </p:nvPr>
        </p:nvSpPr>
        <p:spPr>
          <a:xfrm>
            <a:off x="2240825" y="575950"/>
            <a:ext cx="6480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200" y="1211350"/>
            <a:ext cx="4822950" cy="3245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5) Quiz time!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vulns!</a:t>
            </a:r>
            <a:endParaRPr/>
          </a:p>
        </p:txBody>
      </p:sp>
      <p:pic>
        <p:nvPicPr>
          <p:cNvPr id="384" name="Google Shape;384;p63"/>
          <p:cNvPicPr preferRelativeResize="0"/>
          <p:nvPr/>
        </p:nvPicPr>
        <p:blipFill rotWithShape="1">
          <a:blip r:embed="rId3">
            <a:alphaModFix/>
          </a:blip>
          <a:srcRect b="20338" l="0" r="0" t="0"/>
          <a:stretch/>
        </p:blipFill>
        <p:spPr>
          <a:xfrm>
            <a:off x="2400250" y="1211350"/>
            <a:ext cx="5238750" cy="31426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vulns!</a:t>
            </a:r>
            <a:endParaRPr/>
          </a:p>
        </p:txBody>
      </p:sp>
      <p:pic>
        <p:nvPicPr>
          <p:cNvPr id="390" name="Google Shape;39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925" y="1211350"/>
            <a:ext cx="4283400" cy="340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vulns!</a:t>
            </a:r>
            <a:endParaRPr/>
          </a:p>
        </p:txBody>
      </p:sp>
      <p:pic>
        <p:nvPicPr>
          <p:cNvPr id="396" name="Google Shape;396;p65"/>
          <p:cNvPicPr preferRelativeResize="0"/>
          <p:nvPr/>
        </p:nvPicPr>
        <p:blipFill rotWithShape="1">
          <a:blip r:embed="rId3">
            <a:alphaModFix/>
          </a:blip>
          <a:srcRect b="0" l="0" r="0" t="17019"/>
          <a:stretch/>
        </p:blipFill>
        <p:spPr>
          <a:xfrm>
            <a:off x="2618100" y="1211350"/>
            <a:ext cx="5518982" cy="3364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vulns!</a:t>
            </a:r>
            <a:endParaRPr/>
          </a:p>
        </p:txBody>
      </p:sp>
      <p:pic>
        <p:nvPicPr>
          <p:cNvPr id="402" name="Google Shape;40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125" y="1401800"/>
            <a:ext cx="6470800" cy="3032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vulns!</a:t>
            </a:r>
            <a:endParaRPr/>
          </a:p>
        </p:txBody>
      </p:sp>
      <p:pic>
        <p:nvPicPr>
          <p:cNvPr id="408" name="Google Shape;40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150" y="1442225"/>
            <a:ext cx="6594426" cy="243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vulns!</a:t>
            </a:r>
            <a:endParaRPr/>
          </a:p>
        </p:txBody>
      </p:sp>
      <p:pic>
        <p:nvPicPr>
          <p:cNvPr id="414" name="Google Shape;41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0" y="1291500"/>
            <a:ext cx="5749150" cy="3098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9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6) Resolving vulns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Resolve those vulns!</a:t>
            </a:r>
            <a:endParaRPr/>
          </a:p>
        </p:txBody>
      </p:sp>
      <p:sp>
        <p:nvSpPr>
          <p:cNvPr id="425" name="Google Shape;425;p70"/>
          <p:cNvSpPr txBox="1"/>
          <p:nvPr>
            <p:ph idx="1" type="body"/>
          </p:nvPr>
        </p:nvSpPr>
        <p:spPr>
          <a:xfrm>
            <a:off x="2410100" y="1595775"/>
            <a:ext cx="6321600" cy="32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Emphasize security from the first prompt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Reference secure coding standards: OWASP cheatsheets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Knowledge bases, instruction files, steering docs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review with same and different models (Adversarial AI)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MCP servers for security 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skills/plugins for security (but still verify!)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Utilize offline AI for confidential/ secret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‘trust’ mode only in controlled envs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from the first prompt:</a:t>
            </a:r>
            <a:endParaRPr/>
          </a:p>
        </p:txBody>
      </p:sp>
      <p:pic>
        <p:nvPicPr>
          <p:cNvPr id="431" name="Google Shape;43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650" y="1211350"/>
            <a:ext cx="4813025" cy="331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</a:t>
            </a:r>
            <a:endParaRPr/>
          </a:p>
        </p:txBody>
      </p:sp>
      <p:pic>
        <p:nvPicPr>
          <p:cNvPr id="437" name="Google Shape;4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125" y="1352775"/>
            <a:ext cx="3376125" cy="31470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Secure Coding Cheatsheets</a:t>
            </a:r>
            <a:endParaRPr/>
          </a:p>
        </p:txBody>
      </p:sp>
      <p:pic>
        <p:nvPicPr>
          <p:cNvPr id="443" name="Google Shape;4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600" y="1289750"/>
            <a:ext cx="4343626" cy="3201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instruction file or skills:</a:t>
            </a:r>
            <a:endParaRPr/>
          </a:p>
        </p:txBody>
      </p:sp>
      <p:pic>
        <p:nvPicPr>
          <p:cNvPr id="449" name="Google Shape;44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0" y="1320100"/>
            <a:ext cx="4866750" cy="31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scanning tools + vibing fixes</a:t>
            </a:r>
            <a:endParaRPr/>
          </a:p>
        </p:txBody>
      </p:sp>
      <p:sp>
        <p:nvSpPr>
          <p:cNvPr id="455" name="Google Shape;455;p75"/>
          <p:cNvSpPr txBox="1"/>
          <p:nvPr>
            <p:ph idx="1" type="body"/>
          </p:nvPr>
        </p:nvSpPr>
        <p:spPr>
          <a:xfrm>
            <a:off x="2410100" y="1595775"/>
            <a:ext cx="6321600" cy="32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familiar with open source code scanning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Semgrep: code scanning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OWASP Dependency checker: supply chain security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NPM audit: easy way to check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your AI to help you set it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 once you have some scan output, use an agent to take a look, filter out false positives, correct any mistakes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 on high severity first, there will be a lot of noise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to your system prompt to correct any trends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Semgrep as MCP: ask agent to run</a:t>
            </a:r>
            <a:endParaRPr/>
          </a:p>
        </p:txBody>
      </p:sp>
      <p:sp>
        <p:nvSpPr>
          <p:cNvPr id="461" name="Google Shape;461;p76"/>
          <p:cNvSpPr txBox="1"/>
          <p:nvPr>
            <p:ph idx="1" type="body"/>
          </p:nvPr>
        </p:nvSpPr>
        <p:spPr>
          <a:xfrm>
            <a:off x="2410100" y="1595775"/>
            <a:ext cx="6321600" cy="32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https://semgrep.dev/docs/mcp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62" name="Google Shape;46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6649" y="2146550"/>
            <a:ext cx="4351377" cy="24532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and vibe fixes:</a:t>
            </a:r>
            <a:endParaRPr/>
          </a:p>
        </p:txBody>
      </p:sp>
      <p:sp>
        <p:nvSpPr>
          <p:cNvPr id="468" name="Google Shape;468;p77"/>
          <p:cNvSpPr txBox="1"/>
          <p:nvPr>
            <p:ph idx="1" type="body"/>
          </p:nvPr>
        </p:nvSpPr>
        <p:spPr>
          <a:xfrm>
            <a:off x="2410100" y="1595775"/>
            <a:ext cx="6321600" cy="32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https://github.com/semgrep/semgrep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450" y="2124825"/>
            <a:ext cx="3669002" cy="25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7200" y="2322700"/>
            <a:ext cx="2105300" cy="190959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77"/>
          <p:cNvSpPr/>
          <p:nvPr/>
        </p:nvSpPr>
        <p:spPr>
          <a:xfrm>
            <a:off x="4251900" y="3060000"/>
            <a:ext cx="2098800" cy="43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plugins &amp; skills</a:t>
            </a:r>
            <a:endParaRPr/>
          </a:p>
        </p:txBody>
      </p:sp>
      <p:sp>
        <p:nvSpPr>
          <p:cNvPr id="477" name="Google Shape;477;p78"/>
          <p:cNvSpPr txBox="1"/>
          <p:nvPr>
            <p:ph idx="1" type="body"/>
          </p:nvPr>
        </p:nvSpPr>
        <p:spPr>
          <a:xfrm>
            <a:off x="2400250" y="1541425"/>
            <a:ext cx="6321600" cy="32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https://composio.dev/content/claude-code-plugin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78" name="Google Shape;47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699" y="2134800"/>
            <a:ext cx="3792349" cy="24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Offline AI</a:t>
            </a:r>
            <a:endParaRPr/>
          </a:p>
        </p:txBody>
      </p:sp>
      <p:sp>
        <p:nvSpPr>
          <p:cNvPr id="484" name="Google Shape;484;p79"/>
          <p:cNvSpPr txBox="1"/>
          <p:nvPr>
            <p:ph idx="1" type="body"/>
          </p:nvPr>
        </p:nvSpPr>
        <p:spPr>
          <a:xfrm>
            <a:off x="2410100" y="1211350"/>
            <a:ext cx="6321600" cy="3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Encourage team members to use offline or private AI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Especially important with pentesting, national security, proprietary code, sensitive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GPT4All is a great option: https://www.nomic.ai/gpt4all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with a model like Llama 4, and turn off analytics and data lake on startup -&gt; then fully private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GPT4All: Offline local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0" name="Google Shape;49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626" y="1211350"/>
            <a:ext cx="5186950" cy="337709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GPT4All startup options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6" name="Google Shape;4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850" y="1211350"/>
            <a:ext cx="5209423" cy="30918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2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7) AI-assisted coding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do ‘AI-assisted coding’</a:t>
            </a:r>
            <a:endParaRPr/>
          </a:p>
        </p:txBody>
      </p:sp>
      <p:sp>
        <p:nvSpPr>
          <p:cNvPr id="507" name="Google Shape;507;p8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Instead of having the AI write everything, use it as a companion to help you troubleshoot tough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code out the entire application as you normally would manually, but then ask for help when you get tough errors or are exploring new tech stacks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help with troubleshooting and ask for secure architecture advice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do ‘AI-assisted coding’</a:t>
            </a:r>
            <a:endParaRPr/>
          </a:p>
        </p:txBody>
      </p:sp>
      <p:sp>
        <p:nvSpPr>
          <p:cNvPr id="513" name="Google Shape;513;p8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 Ask an AI to review your code for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for tutoring and quiz sessions to help you learn more kinds of vulnerabilities, train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vibe coding for quick, internal apps and know when to go manual for bigger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‘trust’ mode only in controlled environments, work in separate partitions from any important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Essentially: treat AI as an advisor instead of outsourcing all your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519" name="Google Shape;51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951" y="1211350"/>
            <a:ext cx="4020100" cy="3312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525" name="Google Shape;52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725" y="1300475"/>
            <a:ext cx="3386024" cy="283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</p:txBody>
      </p:sp>
      <p:pic>
        <p:nvPicPr>
          <p:cNvPr id="531" name="Google Shape;53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350" y="1352875"/>
            <a:ext cx="5252925" cy="3174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8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8) Further reading + workshop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n"/>
              <a:t>Further reading:</a:t>
            </a:r>
            <a:endParaRPr/>
          </a:p>
        </p:txBody>
      </p:sp>
      <p:sp>
        <p:nvSpPr>
          <p:cNvPr id="542" name="Google Shape;542;p8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https://cloudsecurityalliance.org/blog/2025/04/09/secure-vibe-coding-guide#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https://owasp.org/Top10/2025/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https://platform.claude.com/docs/en/agent-sdk/modifying-system-prompts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https://arxiv.org/abs/2512.03262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https://cheatsheetseries.owasp.org/index.html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https://semgrep.dev/docs/mcp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https://github.com/anthropics/claude-code-security-review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https://composio.dev/content/claude-code-plugin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0"/>
          <p:cNvSpPr txBox="1"/>
          <p:nvPr>
            <p:ph type="title"/>
          </p:nvPr>
        </p:nvSpPr>
        <p:spPr>
          <a:xfrm>
            <a:off x="411675" y="710350"/>
            <a:ext cx="4252500" cy="31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 Materials: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6"/>
              <a:t>https://github.com/Betta-Lyon-Delsordo/insecure-vibes/</a:t>
            </a:r>
            <a:endParaRPr/>
          </a:p>
        </p:txBody>
      </p:sp>
      <p:pic>
        <p:nvPicPr>
          <p:cNvPr id="548" name="Google Shape;54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775" y="1011100"/>
            <a:ext cx="3099325" cy="29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1"/>
          <p:cNvSpPr txBox="1"/>
          <p:nvPr>
            <p:ph type="title"/>
          </p:nvPr>
        </p:nvSpPr>
        <p:spPr>
          <a:xfrm>
            <a:off x="1115200" y="712150"/>
            <a:ext cx="54120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9) Questions?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2"/>
          <p:cNvSpPr txBox="1"/>
          <p:nvPr>
            <p:ph type="title"/>
          </p:nvPr>
        </p:nvSpPr>
        <p:spPr>
          <a:xfrm>
            <a:off x="427325" y="2386750"/>
            <a:ext cx="3598500" cy="86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connect!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11"/>
              <a:t>https://www.linkedin.com/in/betta-lyon-delsordo/</a:t>
            </a:r>
            <a:r>
              <a:rPr lang="en" sz="2911"/>
              <a:t> </a:t>
            </a:r>
            <a:endParaRPr sz="2911"/>
          </a:p>
        </p:txBody>
      </p:sp>
      <p:pic>
        <p:nvPicPr>
          <p:cNvPr id="559" name="Google Shape;55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2650" y="541975"/>
            <a:ext cx="4171399" cy="40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